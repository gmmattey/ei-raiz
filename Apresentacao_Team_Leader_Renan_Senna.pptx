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4864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0F172A"/>
                </a:solidFill>
              </a:defRPr>
            </a:pPr>
            <a:r>
              <a:t>RENAN SENNA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5CB9"/>
                </a:solidFill>
              </a:defRPr>
            </a:pPr>
            <a:r>
              <a:t>TEAM LEADER | RETENÇÃO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22 anos | Campo Grande – RJ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Experiência prática em vendas e retenção (Atento)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Vivência real de operação e metas</a:t>
            </a:r>
          </a:p>
          <a:p>
            <a:pPr>
              <a:spcAft>
                <a:spcPts val="1000"/>
              </a:spcAft>
              <a:defRPr sz="1800">
                <a:solidFill>
                  <a:srgbClr val="334155"/>
                </a:solidFill>
              </a:defRPr>
            </a:pPr>
            <a:r>
              <a:t>• Estudante de ADS (UNESA) com visão analítica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 i="1">
                <a:solidFill>
                  <a:srgbClr val="0F172A"/>
                </a:solidFill>
              </a:defRPr>
            </a:pPr>
            <a:r>
              <a:t>"Transformar uma operação instável em uma operação previsível e performática."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029200"/>
            <a:ext cx="7315200" cy="10972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5029200"/>
            <a:ext cx="54864" cy="109728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0" y="1371600"/>
            <a:ext cx="2743200" cy="2743200"/>
          </a:xfrm>
          <a:prstGeom prst="ellipse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0" y="42976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748B"/>
                </a:solidFill>
              </a:defRPr>
            </a:pPr>
            <a:r>
              <a:t>Inserir Foto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4864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DIAGNÓSTICO OPERACIONAL E PLANO ORIENTADO A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3474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474720" cy="45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PROBLEMAS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■ Retenção: 68% (meta 80%)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■ Qualidade: 82% (meta ≥ 90%)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■ ABS: 9% (meta ≤ 5%)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■ TMA elevado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■ Baixo engajamento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463040"/>
            <a:ext cx="3474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463040"/>
            <a:ext cx="3474720" cy="45720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660099"/>
                </a:solidFill>
              </a:defRPr>
            </a:pPr>
            <a:r>
              <a:t>COMO DIAGNOSTICAR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9456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◆ Escuta ativa de ligações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◆ Monitoria focada em objeções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◆ Análise de aderência e escala (ABS)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◆ Breakdown do TMA por etapa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◆ 1:1 com operadores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4747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474720" cy="45720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45920"/>
            <a:ext cx="3108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CB9"/>
                </a:solidFill>
              </a:defRPr>
            </a:pPr>
            <a:r>
              <a:t>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194560"/>
            <a:ext cx="3108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➜ Script guiado + simulação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➜ Monitoria assistida com devolutiva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➜ Feedback estruturado semanal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➜ Ajuste de escala baseado em tráfego</a:t>
            </a:r>
          </a:p>
          <a:p>
            <a:pPr>
              <a:spcAft>
                <a:spcPts val="800"/>
              </a:spcAft>
              <a:defRPr sz="1400">
                <a:solidFill>
                  <a:srgbClr val="334155"/>
                </a:solidFill>
              </a:defRPr>
            </a:pPr>
            <a:r>
              <a:t>➜ Ranking diário + metas visíveis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023360" y="3200400"/>
            <a:ext cx="2743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7818120" y="3200400"/>
            <a:ext cx="274320" cy="274320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59436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5CB9"/>
                </a:solidFill>
              </a:defRPr>
            </a:pPr>
            <a:r>
              <a:t>RITUAIS: DAILY + FEEDBACK + MONITORIA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54864"/>
          </a:xfrm>
          <a:prstGeom prst="rect">
            <a:avLst/>
          </a:prstGeom>
          <a:solidFill>
            <a:srgbClr val="005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54864"/>
          </a:xfrm>
          <a:prstGeom prst="rect">
            <a:avLst/>
          </a:prstGeom>
          <a:solidFill>
            <a:srgbClr val="6600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EVOLUÇÃO &amp; GESTÃO DA OPERAÇÃO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34747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3474720" cy="4572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</a:defRPr>
            </a:pPr>
            <a:r>
              <a:t>1. TIMELINE</a:t>
            </a:r>
          </a:p>
          <a:p>
            <a:pPr>
              <a:spcBef>
                <a:spcPts val="500"/>
              </a:spcBef>
              <a:defRPr sz="1200" b="1"/>
            </a:pPr>
            <a:r>
              <a:t>30–60 DIAS</a:t>
            </a:r>
          </a:p>
          <a:p>
            <a:pPr>
              <a:spcAft>
                <a:spcPts val="200"/>
              </a:spcAft>
              <a:defRPr sz="1100"/>
            </a:pPr>
            <a:r>
              <a:t>• PDI individual mapeado</a:t>
            </a:r>
          </a:p>
          <a:p>
            <a:pPr>
              <a:spcAft>
                <a:spcPts val="200"/>
              </a:spcAft>
              <a:defRPr sz="1100"/>
            </a:pPr>
            <a:r>
              <a:t>• Treinamento intensivo</a:t>
            </a:r>
          </a:p>
          <a:p>
            <a:pPr>
              <a:spcAft>
                <a:spcPts val="200"/>
              </a:spcAft>
              <a:defRPr sz="1100"/>
            </a:pPr>
            <a:r>
              <a:t>• Shadow com top performers</a:t>
            </a:r>
          </a:p>
          <a:p>
            <a:pPr>
              <a:spcBef>
                <a:spcPts val="500"/>
              </a:spcBef>
              <a:defRPr sz="1200" b="1"/>
            </a:pPr>
            <a:r>
              <a:t>60–90 DIAS</a:t>
            </a:r>
          </a:p>
          <a:p>
            <a:pPr>
              <a:spcAft>
                <a:spcPts val="200"/>
              </a:spcAft>
              <a:defRPr sz="1100"/>
            </a:pPr>
            <a:r>
              <a:t>• Metas progressivas aplicadas</a:t>
            </a:r>
          </a:p>
          <a:p>
            <a:pPr>
              <a:spcAft>
                <a:spcPts val="200"/>
              </a:spcAft>
              <a:defRPr sz="1100"/>
            </a:pPr>
            <a:r>
              <a:t>• Estabilização da retenção</a:t>
            </a:r>
          </a:p>
          <a:p>
            <a:pPr>
              <a:spcAft>
                <a:spcPts val="200"/>
              </a:spcAft>
              <a:defRPr sz="1100"/>
            </a:pPr>
            <a:r>
              <a:t>• Redução de ABS e turnover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371600"/>
            <a:ext cx="34747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43400" y="1371600"/>
            <a:ext cx="3474720" cy="45720"/>
          </a:xfrm>
          <a:prstGeom prst="rect">
            <a:avLst/>
          </a:prstGeom>
          <a:solidFill>
            <a:srgbClr val="6600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660099"/>
                </a:solidFill>
              </a:defRPr>
            </a:pPr>
            <a:r>
              <a:t>2. GESTÃO DE PESSOAS</a:t>
            </a:r>
          </a:p>
          <a:p>
            <a:pPr>
              <a:spcBef>
                <a:spcPts val="500"/>
              </a:spcBef>
              <a:defRPr sz="1200" b="1"/>
            </a:pPr>
            <a:r>
              <a:t>BAIXA PERFORMANCE:</a:t>
            </a:r>
          </a:p>
          <a:p>
            <a:pPr>
              <a:spcAft>
                <a:spcPts val="200"/>
              </a:spcAft>
              <a:defRPr sz="1100"/>
            </a:pPr>
            <a:r>
              <a:t>• Plano individual tático</a:t>
            </a:r>
          </a:p>
          <a:p>
            <a:pPr>
              <a:spcAft>
                <a:spcPts val="200"/>
              </a:spcAft>
              <a:defRPr sz="1100"/>
            </a:pPr>
            <a:r>
              <a:t>• Acompanhamento diário</a:t>
            </a:r>
          </a:p>
          <a:p>
            <a:pPr>
              <a:spcBef>
                <a:spcPts val="500"/>
              </a:spcBef>
              <a:defRPr sz="1200" b="1"/>
            </a:pPr>
            <a:r>
              <a:t>ALTA PERFORMANCE:</a:t>
            </a:r>
          </a:p>
          <a:p>
            <a:pPr>
              <a:spcAft>
                <a:spcPts val="200"/>
              </a:spcAft>
              <a:defRPr sz="1100"/>
            </a:pPr>
            <a:r>
              <a:t>• Reconhecimento</a:t>
            </a:r>
          </a:p>
          <a:p>
            <a:pPr>
              <a:spcAft>
                <a:spcPts val="200"/>
              </a:spcAft>
              <a:defRPr sz="1100"/>
            </a:pPr>
            <a:r>
              <a:t>• Atuação como multiplicador</a:t>
            </a:r>
          </a:p>
          <a:p>
            <a:pPr>
              <a:spcBef>
                <a:spcPts val="500"/>
              </a:spcBef>
              <a:defRPr sz="1200" b="1"/>
            </a:pPr>
            <a:r>
              <a:t>CULTURA DE FEEDBACK:</a:t>
            </a:r>
          </a:p>
          <a:p>
            <a:pPr>
              <a:spcAft>
                <a:spcPts val="200"/>
              </a:spcAft>
              <a:defRPr sz="1100"/>
            </a:pPr>
            <a:r>
              <a:t>• Direto e estruturado</a:t>
            </a:r>
          </a:p>
          <a:p>
            <a:pPr>
              <a:spcAft>
                <a:spcPts val="200"/>
              </a:spcAft>
              <a:defRPr sz="1100"/>
            </a:pPr>
            <a:r>
              <a:t>• Sem surpresas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47472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371600"/>
            <a:ext cx="3474720" cy="45720"/>
          </a:xfrm>
          <a:prstGeom prst="rect">
            <a:avLst/>
          </a:prstGeom>
          <a:solidFill>
            <a:srgbClr val="005CB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554480"/>
            <a:ext cx="310896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5CB9"/>
                </a:solidFill>
              </a:defRPr>
            </a:pPr>
            <a:r>
              <a:t>3. GESTÃO DE INDICADORES</a:t>
            </a:r>
          </a:p>
          <a:p>
            <a:pPr>
              <a:spcBef>
                <a:spcPts val="500"/>
              </a:spcBef>
              <a:defRPr sz="1200" b="1"/>
            </a:pPr>
            <a:r>
              <a:t>RADAR DIÁRIO:</a:t>
            </a:r>
          </a:p>
          <a:p>
            <a:pPr>
              <a:spcAft>
                <a:spcPts val="200"/>
              </a:spcAft>
              <a:defRPr sz="1100"/>
            </a:pPr>
            <a:r>
              <a:t>• Acompanhamento hora a hora</a:t>
            </a:r>
          </a:p>
          <a:p>
            <a:pPr>
              <a:spcBef>
                <a:spcPts val="500"/>
              </a:spcBef>
              <a:defRPr sz="1200" b="1"/>
            </a:pPr>
            <a:r>
              <a:t>ALINHAMENTO ESTRATÉGICO:</a:t>
            </a:r>
          </a:p>
          <a:p>
            <a:pPr>
              <a:spcAft>
                <a:spcPts val="200"/>
              </a:spcAft>
              <a:defRPr sz="1100"/>
            </a:pPr>
            <a:r>
              <a:t>• Reunião semanal de resultado</a:t>
            </a:r>
          </a:p>
          <a:p>
            <a:pPr>
              <a:spcBef>
                <a:spcPts val="500"/>
              </a:spcBef>
              <a:defRPr sz="1200" b="1"/>
            </a:pPr>
            <a:r>
              <a:t>AÇÃO IMEDIATA:</a:t>
            </a:r>
          </a:p>
          <a:p>
            <a:pPr>
              <a:spcAft>
                <a:spcPts val="200"/>
              </a:spcAft>
              <a:defRPr sz="1100"/>
            </a:pPr>
            <a:r>
              <a:t>• Correção rápida de desvios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0352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"Gestão não é acompanhar número."</a:t>
            </a:r>
          </a:p>
          <a:p>
            <a:pPr algn="ctr">
              <a:defRPr sz="3200" b="1">
                <a:solidFill>
                  <a:srgbClr val="005CB9"/>
                </a:solidFill>
              </a:defRPr>
            </a:pPr>
            <a:r>
              <a:t>É AGIR RÁPIDO SOBRE O QUE O NÚMERO MOSTRA.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