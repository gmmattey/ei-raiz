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Poppins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DB719C-492B-49DE-9857-22CD10755262}">
  <a:tblStyle styleId="{0ADB719C-492B-49DE-9857-22CD107552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PoppinsExtraBold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Extra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0" y="205263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10639" y="3290887"/>
            <a:ext cx="5770721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ESQUILO </a:t>
            </a:r>
            <a:r>
              <a:rPr b="0" i="0" lang="en-US" sz="5400" u="none" cap="none" strike="noStrike">
                <a:solidFill>
                  <a:srgbClr val="FF73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INVEST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48037" y="4235648"/>
            <a:ext cx="54959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 tradutor da sua vida financeira aplicada.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2290762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1513582" y="1543198"/>
            <a:ext cx="9545835" cy="3066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Eu tenho dinheiro investido em lugares diferentes, não entendo direito o que tenho, não sei se está bom, não sei o que fazer e não confio nas recomendações das plataformas.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132582" y="1543198"/>
            <a:ext cx="95250" cy="3066603"/>
          </a:xfrm>
          <a:prstGeom prst="rect">
            <a:avLst/>
          </a:prstGeom>
          <a:solidFill>
            <a:srgbClr val="FF7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132582" y="4990802"/>
            <a:ext cx="99268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73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A voz do investidor moderno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581025" y="581025"/>
            <a:ext cx="55406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Verdadeira Dor</a:t>
            </a:r>
            <a:endParaRPr/>
          </a:p>
        </p:txBody>
      </p:sp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647825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O problema não é investimento. </a:t>
            </a:r>
            <a:r>
              <a:rPr b="1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O problema é a desorientação.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617291"/>
            <a:ext cx="5276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As plataformas atuais mostram o saldo, empurram novos produtos, jogam gráficos que poucos entendem e fingem que estão ajudando.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1025" y="3952428"/>
            <a:ext cx="5276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O resultado? O usuário fica perdido, com medo de fazer besteira e carrega a culpa de não acompanhar seu próprio patrimônio.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07318"/>
            <a:ext cx="5276850" cy="511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07318"/>
            <a:ext cx="5276850" cy="511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581025" y="340518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Preço da Confusão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971550" y="1893093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73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Dor Prática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6724650" y="1893093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73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Dor Psicológica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047750" y="2589371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1162050" y="2588418"/>
            <a:ext cx="4305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Investimentos pulverizados em 2 ou 3 instituições.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047750" y="345019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162050" y="3449240"/>
            <a:ext cx="4305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Dificuldade gigante de consolidação e atualização.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47750" y="431101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162050" y="4310062"/>
            <a:ext cx="43053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Leitura ruim dos dados apresentados.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47750" y="483667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62050" y="4835723"/>
            <a:ext cx="4305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Recomendações inúteis ou fora da realidade.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800850" y="2589371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915150" y="2588418"/>
            <a:ext cx="4305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Sensação constante de estar perdido no escuro.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800850" y="345019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915150" y="3449240"/>
            <a:ext cx="4305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Medo de estar sendo enganado pelas plataformas.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800850" y="431101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915150" y="4310062"/>
            <a:ext cx="4305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Culpa pesada por não conseguir acompanhar.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800850" y="5171836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915150" y="5170884"/>
            <a:ext cx="4305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Vergonha por não compreender o "economês".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8818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Que Somos (e O Que Não Somos)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09650" y="1888182"/>
            <a:ext cx="48482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Não somos "mais um app".</a:t>
            </a: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Esqueça o painel financeiro genérico ou a plataforma avançada de wealth management.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09650" y="3270944"/>
            <a:ext cx="48482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Somos o aplicativo que organiza e explica.</a:t>
            </a: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Em português normal, dizemos se sua carteira faz sentido e o que fazer agora.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09650" y="4653706"/>
            <a:ext cx="48482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Um tradutor financeiro.</a:t>
            </a: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O lugar único para entender o que você tem, quanto rendeu e a próxima jogada.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97707"/>
            <a:ext cx="52578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21519"/>
            <a:ext cx="209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0428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87044"/>
            <a:ext cx="238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2152501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Nossa Persona Principal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334125" y="1959619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Jovem adulto ou adulto iniciante/intermediário.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334125" y="2563415"/>
            <a:ext cx="52768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Ele já começou a investir e tem dinheiro espalhado. Ele entende o básico, mas não acompanha com disciplina e desconfia das recomendações do banco.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34125" y="4264223"/>
            <a:ext cx="52768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Ele quer uma visão simples, realista e útil. Ele quer saber "se está bom" e "o que fazer" sem precisar cursar economia para entender a própria vida.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6850" y="2209651"/>
            <a:ext cx="35052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51769"/>
            <a:ext cx="3422600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51769"/>
            <a:ext cx="3422600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51769"/>
            <a:ext cx="3422600" cy="342126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Três Pilares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76300" y="3451919"/>
            <a:ext cx="181022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Consolidar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76300" y="4042469"/>
            <a:ext cx="28320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Mostrar com absoluta precisão quanto você tem no total e em quais lugares esse dinheiro está alocado.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4679900" y="3451919"/>
            <a:ext cx="14601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Traduzir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679900" y="4042469"/>
            <a:ext cx="28320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Pegar dados complexos e explicar o que eles significam na prática, usando uma linguagem humana e normal.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483500" y="3451919"/>
            <a:ext cx="149018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Orientar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483500" y="4042469"/>
            <a:ext cx="28320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Dizer com clareza o que vale a pena fazer agora, de forma 100% realista para o contexto financeiro do usuário.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66134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900" y="266134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3500" y="2661344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Jornada do Usuário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81025" y="3943350"/>
            <a:ext cx="1102995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14848" y="4295775"/>
            <a:ext cx="277940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3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Onboarding Humano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81025" y="5105400"/>
            <a:ext cx="264705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Cadastro leve, sem cara de banco e sem prova de perfil. Foco em objetivos e contexto real.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3309096" y="1790700"/>
            <a:ext cx="277940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3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Importação Mágica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3375273" y="2266950"/>
            <a:ext cx="264705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Upload rápido de CSV/Extrato com reconhecimento automático de padrão. Sem fricção.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103344" y="4295775"/>
            <a:ext cx="277940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3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Tradução Rápida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169521" y="4772025"/>
            <a:ext cx="264705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Visão de patrimônio com diagnóstico claro e sem jargões. Entendimento imediato de risco.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897592" y="1790700"/>
            <a:ext cx="277940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3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Ação Prática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963769" y="2266950"/>
            <a:ext cx="264705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Recebimento de orientações simples de qual deve ser a próxima revisão. Retorno para segurança mental.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1790253" y="3848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47625">
            <a:solidFill>
              <a:srgbClr val="FF7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584501" y="3848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47625">
            <a:solidFill>
              <a:srgbClr val="FF7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378749" y="3848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47625">
            <a:solidFill>
              <a:srgbClr val="FF7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0172997" y="3848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47625">
            <a:solidFill>
              <a:srgbClr val="FF7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380232"/>
            <a:ext cx="11029950" cy="516433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81025" y="313432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Escopo do MVP: Foco Total</a:t>
            </a:r>
            <a:endParaRPr/>
          </a:p>
        </p:txBody>
      </p:sp>
      <p:graphicFrame>
        <p:nvGraphicFramePr>
          <p:cNvPr id="193" name="Google Shape;193;p21"/>
          <p:cNvGraphicFramePr/>
          <p:nvPr/>
        </p:nvGraphicFramePr>
        <p:xfrm>
          <a:off x="590550" y="1389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{0ADB719C-492B-49DE-9857-22CD10755262}</a:tableStyleId>
              </a:tblPr>
              <a:tblGrid>
                <a:gridCol w="7706325"/>
                <a:gridCol w="3304575"/>
              </a:tblGrid>
              <a:tr h="7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Funcionalidade / Solução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Prioridade no MVP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300"/>
                    </a:solidFill>
                  </a:tcPr>
                </a:tc>
              </a:tr>
              <a:tr h="7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Importação Inteligente via CSV / Extratos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 (Núcleo)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7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Consolidação Multi-plataforma e Visão de Patrimônio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 (Núcleo)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  <a:tr h="7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Tradução da Carteira em Linguagem Simples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 (Núcleo)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7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Recomendação Principal Validada com a Realidade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 (Núcleo)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  <a:tr h="7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Integração Direta e Sensível com Bancos (Open Finance)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Não Entra Agora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7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Operações Automáticas de Compra e Venda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Não Entra Agora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21"/>
          <p:cNvSpPr/>
          <p:nvPr/>
        </p:nvSpPr>
        <p:spPr>
          <a:xfrm>
            <a:off x="590550" y="2863155"/>
            <a:ext cx="770632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296870" y="2863155"/>
            <a:ext cx="330457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90550" y="3596580"/>
            <a:ext cx="770632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8296870" y="3596580"/>
            <a:ext cx="330457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90550" y="4330005"/>
            <a:ext cx="770632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296870" y="4330005"/>
            <a:ext cx="330457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90550" y="5063430"/>
            <a:ext cx="770632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296870" y="5063430"/>
            <a:ext cx="330457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90550" y="5796855"/>
            <a:ext cx="770632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296870" y="5796855"/>
            <a:ext cx="330457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Mágica da Orientação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81025" y="2638425"/>
            <a:ext cx="3365152" cy="210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0" u="none" cap="none" strike="noStrike">
                <a:solidFill>
                  <a:srgbClr val="FF73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81025" y="4933950"/>
            <a:ext cx="336515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Ação Por Vez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4917727" y="2183308"/>
            <a:ext cx="702790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Direção sem enrolação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4917727" y="3078658"/>
            <a:ext cx="6693247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Depois de consolidar e traduzir, o aplicativo não vira um coach genérico com conselhos impossíveis.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4917727" y="4013894"/>
            <a:ext cx="6693247" cy="15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Entregamos apenas uma recomendação realista, baseada na renda atual do usuário. Validamos o contexto para evitar frustrações, criando um elo de extrema confiança e altíssima retenção.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38275"/>
            <a:ext cx="7620000" cy="53926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228725" y="2009775"/>
            <a:ext cx="672084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Visão de Futuro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228725" y="3200400"/>
            <a:ext cx="64008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Depois de validado o MVP (o núcleo de consolidação e tradução), entraremos em camadas mais sofisticadas.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228725" y="4531816"/>
            <a:ext cx="6400800" cy="15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 evolução natural trará metas personalizadas, alertas inteligentes e cenários comparativos. Mas isso só funcionará porque a fundação de confiança e clareza foi perfeitamente estabelecida no início.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9050" y="5022502"/>
            <a:ext cx="45339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305276" y="1121122"/>
            <a:ext cx="11581447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7300"/>
                </a:solidFill>
                <a:latin typeface="Poppins"/>
                <a:ea typeface="Poppins"/>
                <a:cs typeface="Poppins"/>
                <a:sym typeface="Poppins"/>
              </a:rPr>
              <a:t>Vamos Traduzir o Mercado?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581025" y="3997672"/>
            <a:ext cx="11029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Esquilo organiza, traduz e orienta sua vida de investimentos.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581025" y="2199530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81025" y="318239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81025" y="396716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81025" y="31728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81025" y="31728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81025" y="39576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81025" y="39576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81025" y="47424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81025" y="47424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480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1676400" y="234240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https://media.istockphoto.com/id/1739117974/photo/portrait-of-worried-mature-man-holding-smart-phone.jpg?s=612x612&amp;w=0&amp;k=20&amp;c=yjwECbNZGy0TM3FqImhqfPpLpEaZP-AuTAqSAlKFXoc=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676400" y="278621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318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1676400" y="332526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https://www.justinmind.com/wp-content/uploads/2018/12/6-best-practices-for-Dashboard-Design-Justinmind-header.png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676400" y="357098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www.justinmind.com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165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76400" y="411003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https://static.vecteezy.com/system/resources/thumbnails/076/980/381/small/happy-youth-listening-to-music-yellow-background-photo.jpg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76400" y="435575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0004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676400" y="489480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https://media.istockphoto.com/id/2260406057/video/abstract-digital-data-wave-with-financial-chart-visualization.jpg?s=640x640&amp;k=20&amp;c=GZ_ptgxPvEJ3HcB5CsoTXQ2Gv0-ZZWUQg3sC4NHTI38=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76400" y="53386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